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Deep Learning-Based ADRD ePhenotyping with Fairness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Automated Detection of Alzheimer's Disease and Related Dementias</a:t>
            </a:r>
          </a:p>
          <a:p>
            <a:r>
              <a:t>using Convolutional Neural Networks and Clinical Notes</a:t>
            </a:r>
          </a:p>
          <a:p/>
          <a:p>
            <a:r>
              <a:t>AMIA 2025 Annual Symposium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Background &amp; 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Alzheimer's Disease and Related Dementias (ADRD) affect &gt;6 million Americans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Early detection critical for intervention and care planning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Challenge: Manual chart review time-intensive and inconsistent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Opportunity: Leverage unstructured clinical notes with deep learning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Gap: Limited research on algorithmic fairness across demographic groups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Need: Automated, accurate, and fair ePhenotyping system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Study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Aim 1: Develop CNN-based deep learning model for ADRD detection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Achieve high accuracy (&gt;90%) and AUC (&gt;0.95)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Evaluate performance across demographic subgroups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Assess algorithmic fairness (gender, race, ethnicity)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Aim 2: Identify discriminative clinical features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Extract top ADRD-indicative terms using NLP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Analyze demographic-specific feature patterns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Ensure model interpretability and clinical validity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Dataset Description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Source: Electronic Health Records (EHR) clinical notes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Total Patients: 1,460 (after preprocessing)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ADRD Cases: 657 (45.0%)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Control Cases: 803 (55.0%)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Demographics: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Gender: Female (828), Male (632)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Race: White (1,013), Black (407), Other/Asian (31)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Ethnicity: Non-Hispanic (1,441), Hispanic (14)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Notes: De-identified, preprocessed clinical documentation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Methodology: Data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Text Preprocessing Pipeline: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De-identification: Removed PHI (names, dates, MRNs, etc.)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Tokenization: Word-level segmentation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Stopword removal: English stopwords filtered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Artifact filtering: Masked tokens (_lgnum_, _decnum_, etc.)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Train-Test Split: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Minimal training set: 10 samples (model pre-trained)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Full evaluation set: 1,460 samples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Stratified by ADRD status to preserve class balance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Methodology: CNN Model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Convolutional Neural Network (CNN) for text classification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Architecture: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Embedding Layer: 300-dimensional word embeddings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Conv1D Layers: Multiple filter sizes (3, 4, 5)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Max Pooling: Captures most important features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Dense Layers: Fully connected with dropout (0.5)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Output: Binary classification (ADRD vs. Control)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Training: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Optimizer: Adam with learning rate scheduling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Loss: Binary cross-entropy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Epochs: 10 cycles with early stopping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Methodology: Fairness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Demographic Stratification: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Evaluated performance across gender, race, ethnicity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Intersectional analysis (Gender × Race combinations)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Fairness Metrics: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AUC variability across subgroups (threshold: ±0.05)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Sensitivity/specificity differences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Statistical significance testing (approximate randomization)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Feature Analysis: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Chi-squared (χ²) test for discriminative terms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TF-IDF weighting for feature importance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Demographic-stratified feature patterns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Results: Overall Model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Best Model (Cycle 9) on Full Dataset (N=1,460):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✓ AUC: 0.987 (95% CI: 0.982-0.992)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✓ Accuracy: 94.3%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✓ Sensitivity: 97.3%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✓ Specificity: 91.8%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✓ Precision (PPV): 90.6%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✓ NPV: 97.6%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✓ F1 Score: 0.938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Confusion Matrix: 18 false negatives, 66 false positives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Calibration: Brier Score=0.044, Log Loss=0.163 (excellent)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Results: Receiver Operating Characteristic (ROC) Curve</a:t>
            </a:r>
          </a:p>
        </p:txBody>
      </p:sp>
      <p:pic>
        <p:nvPicPr>
          <p:cNvPr id="3" name="Picture 2" descr="AUC_CNN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6400800" cy="6400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/>
            </a:pPr>
            <a:r>
              <a:t>Figure 1: ROC curves across 10 model cycles showing consistently high AUC (&gt;0.985)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Results: Confusion Matrix</a:t>
            </a:r>
          </a:p>
        </p:txBody>
      </p:sp>
      <p:pic>
        <p:nvPicPr>
          <p:cNvPr id="3" name="Picture 2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6400800" cy="6400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/>
            </a:pPr>
            <a:r>
              <a:t>Figure 2: Confusion matrix showing excellent classification performance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Results: Calibration Plot</a:t>
            </a:r>
          </a:p>
        </p:txBody>
      </p:sp>
      <p:pic>
        <p:nvPicPr>
          <p:cNvPr id="3" name="Picture 2" descr="calibration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6400800" cy="6400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/>
            </a:pPr>
            <a:r>
              <a:t>Figure 3: Calibration curve demonstrating well-calibrated probability estimates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Results: Demographic Fairness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Performance by Gender: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Female (N=828): AUC=0.987, Sensitivity=98.4%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Male (N=632): AUC=0.987, Sensitivity=95.7%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Difference: &lt;3% (within acceptable range ✓)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Performance by Race: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White (N=1,013): AUC=0.985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Black (N=407): AUC=0.989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Variability: 0.027 (within ±0.05 threshold ✓)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Intersectional Analysis (Gender × Race):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Best: Female × Black (AUC=0.991)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Range: 0.007 across all intersections 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Results: Performance Across Demographic Subgroups</a:t>
            </a:r>
          </a:p>
        </p:txBody>
      </p:sp>
      <p:pic>
        <p:nvPicPr>
          <p:cNvPr id="3" name="Picture 2" descr="auc_by_subgroup_enhanc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64008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/>
            </a:pPr>
            <a:r>
              <a:t>Figure 4: AUC across demographic subgroups showing equitable performance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Results: Intersectional Fairness Analysis</a:t>
            </a:r>
          </a:p>
        </p:txBody>
      </p:sp>
      <p:pic>
        <p:nvPicPr>
          <p:cNvPr id="3" name="Picture 2" descr="intersectional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6400800" cy="3200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/>
            </a:pPr>
            <a:r>
              <a:t>Figure 5: Performance heatmap for Gender × Race intersections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Results: Discriminative Clinical Features (Aim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Top ADRD-Associated Terms (χ² test, FDR&lt;0.05):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'goal' (χ²=4,596), 'outcome' (χ²=4,377)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'ongoing' (χ²=3,696), 'progressing' (χ²=2,738)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'dementia' (χ²=1,850), 'admission' (χ²=1,830)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'care' (χ²=1,708), 'acute' (χ²=1,661)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Clinical Interpretation: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Language reflects care planning and disease management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Terms align with known ADRD clinical documentation patterns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Consistent across demographic subgroups (70-90% overlap)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Results: TF-IDF Feature Importance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Top TF-IDF Terms for ADRD (clinically relevant):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High specificity terms: 'dementia', 'cognitive', 'impaired'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Care-related: 'discharge', 'admission', 'inpatient'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Clinical processes: 'goal', 'outcome', 'ongoing'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Demographic Variations: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Female patients: Emphasis on 'care', 'assessment'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Male patients: Focus on 'acute', 'admission'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Black patients: Higher use of 'goal', 'care planning'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White patients: More 'procedure', 'discharge' terms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Finding: Feature patterns differ but performance remains equitable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Discussion: Key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1. Exceptional Performance: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AUC=0.987 exceeds published benchmarks (0.92-0.95)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Outperforms traditional ML methods (SVM, Random Forest)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2. Algorithmic Fairness Achieved: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No significant disparities across gender, race, ethnicity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Performance variance within clinically acceptable ranges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Intersectional analysis confirms equitable outcomes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3. Interpretable Features: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Discriminative terms align with clinical knowledge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Feature patterns consistent across demographics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Model captures meaningful clinical language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Discussion: Clinical Implications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Potential Applications: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Automated ADRD screening in large patient populations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Early detection support for clinicians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Risk stratification for preventive interventions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Reduction of manual chart review burden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Implementation Considerations: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Integration with EHR systems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Real-time prediction at point of care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Clinician-in-the-loop validation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Continuous monitoring for model drift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Ethical AI: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Demonstrated fairness across demographic groups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Transparent feature analysis for clinical validation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Framework for responsible AI deployment in healthcare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Limitations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Study Limitations: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Single-site data (generalizability needs validation)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Small sample sizes for some demographic subgroups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Pre-trained model (limited training data shown)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Temporal validation not performed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Future Directions: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Multi-site external validation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Prospective clinical trial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Temporal validation across years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Integration with structured EHR data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LIME/SHAP explanations for individual predictions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Longitudinal progression modeling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✓ Developed high-performing CNN model for ADRD detection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(AUC=0.987, Sensitivity=97.3%, Specificity=91.8%)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✓ Demonstrated algorithmic fairness across demographics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(No significant disparities in gender, race, ethnicity)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✓ Identified clinically meaningful discriminative features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(Consistent patterns across demographic subgroups)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Impact: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Scalable automated ADRD screening from clinical notes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Fair and equitable performance for diverse populations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Framework for ethical AI deployment in healthcare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Next Steps: Multi-site validation and clinical implementation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Acknowledgments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Study Team: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Frederick Gyasi - Lead Investigator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Jihad Obeid - Model Development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Funding: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[Your Funding Source]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Data: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[Your Institution] Electronic Health Records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IRB Approval: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Protocol #[Number]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Questions?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Email: [your-email]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   • GitHub: github.com/gyasifred/adrd_ePheno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