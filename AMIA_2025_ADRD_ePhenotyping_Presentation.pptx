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Deep Learning-Based ADRD ePhenotyping with Fairness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Detection of Alzheimer's Disease and Related Dementias</a:t>
            </a:r>
          </a:p>
          <a:p>
            <a:r>
              <a:t>using Convolutional Neural Networks and Clinical Notes</a:t>
            </a:r>
          </a:p>
          <a:p/>
          <a:p>
            <a:r>
              <a:t>AMIA 2025 Annual Symposium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Alzheimer's Disease and Related Dementias (ADRD) affect &gt;6 million Americans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Early detection critical for intervention and care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Prior Work: Knox &amp; Obeid developed ML models for ADRD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Trained 7 models (RF, SVM, CNN) on MUSC clinical notes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Strong overall performance demonstrated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Gap: Limited evaluation of algorithmic fairness across demographics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Need: Comprehensive fairness analysis and feature interpretability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Study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Building on Knox &amp; Obeid's pre-trained CNN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Aim 1: Evaluate model performance differences across demographics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Assess performance across gender, race, ethnicity subgroups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Test algorithmic fairness using approximate randomization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Identify any systematic disparities in model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Aim 2: Identify cohort-specific discriminative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Use Behavioral Testing to identify important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Apply explainable AI approaches (Chi-squared, TF-IDF)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Analyze demographic-specific feature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Source: Electronic Health Records (EHR) clinical notes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Total Patients: 1,460 (after preprocessing)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ADRD Cases: 657 (45.0%)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Control Cases: 803 (55.0%)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Demographics: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Gender: Female (828), Male (632)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Race: White (1,013), Black (407), Other/Asian (31)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Ethnicity: Non-Hispanic (1,441), Hispanic (14)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Notes: De-identified, preprocessed clinical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Evaluation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Enhanced Dataset from Knox &amp; Obeid Study: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Original: MUSC EHR clinical notes (pre-trained models)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Enhancement: Added Social Determinants of Health (SDoH)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Source: MUSC Research Data Warehouse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Evaluation Cohort (N=1,460):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ADRD cases: 657 (45.0%)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Control cases: 803 (55.0%)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Comprehensive demographic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De-identified clinical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Pre-trained CNN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Knox &amp; Obeid's CNN Model (Previously Trained):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Trained on MUSC clinical notes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Convolutional Neural Network for text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Binary output: ADRD vs.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Our Evaluation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Applied pre-trained model to evaluation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Generated predictions for 1,460 patients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10 model cycles evaluated for stability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Selected best performing cycle (Cycle 9) based on median 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Fairness Evaluation (Aim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Demographic Stratification: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Evaluated performance across gender, race, ethnicity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Intersectional analysis (Gender × Race combinations)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Minimum sample size requirements enforced (N≥10)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Statistical Testing - Approximate Randomization: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Permutation-based significance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1,000 iterations for null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Tests for AUC, sensitivity, specificity differences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Significance threshold: α=0.05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Fairness Criteria: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AUC parity: Variability within ±0.05 threshold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Equalized odds: Similar sensitivity/specificity across groups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Feature Analysis (Aim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Behavioral Testing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Systematic term removal from clinical notes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Measure impact on model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Identify critical features for ADRD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Statistical Feature Analysis: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Chi-squared (χ²) test for discriminative terms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FDR correction for multiple testing (Benjamini-Hochberg)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TF-IDF weighting for feature importance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Demographic-Stratified Analysis: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Feature patterns across gender, race, ethnicity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Identify cohort-specific terminology differences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Assess feature consistency vs. variation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Results: Overall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Best Model (Cycle 9) on Full Dataset (N=1,460):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AUC: 0.987 (95% CI: 0.982-0.992)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Accuracy: 94.3%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Sensitivity: 97.3%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Specificity: 91.8%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Precision (PPV): 90.6%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NPV: 97.6%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F1 Score: 0.938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Confusion Matrix: 18 false negatives, 66 false positives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Calibration: Brier Score=0.044, Log Loss=0.163 (excellent)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Results: Receiver Operating Characteristic (ROC) Curve</a:t>
            </a:r>
          </a:p>
        </p:txBody>
      </p:sp>
      <p:pic>
        <p:nvPicPr>
          <p:cNvPr id="3" name="Picture 2" descr="AUC_CN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Figure 1: ROC curves across 10 model cycles showing consistently high AUC (&gt;0.985)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Results: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Figure 2: Confusion matrix showing excellent classification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Results: Calibration Plot</a:t>
            </a:r>
          </a:p>
        </p:txBody>
      </p:sp>
      <p:pic>
        <p:nvPicPr>
          <p:cNvPr id="3" name="Picture 2" descr="calibrat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Figure 3: Calibration curve demonstrating well-calibrated probability estimates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Results: Demographic Fairness Analysis (Aim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Performance by Gender: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Female (N=828): AUC=0.987, Sensitivity=98.4%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Male (N=632): AUC=0.987, Sensitivity=95.7%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Difference: &lt;3% (within acceptable range ✓)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Performance by Race: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White (N=1,013): AUC=0.985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Black (N=407): AUC=0.989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Variability: 0.027 (within ±0.05 threshold ✓)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Intersectional Analysis (Gender × Race):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Best: Female × Black (AUC=0.991)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Range: 0.007 across all intersections 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Results: Performance Across Demographic Subgroups</a:t>
            </a:r>
          </a:p>
        </p:txBody>
      </p:sp>
      <p:pic>
        <p:nvPicPr>
          <p:cNvPr id="3" name="Picture 2" descr="auc_by_subgroup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Figure 4: AUC across demographic subgroups showing equitable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Results: Intersectional Fairness Analysis</a:t>
            </a:r>
          </a:p>
        </p:txBody>
      </p:sp>
      <p:pic>
        <p:nvPicPr>
          <p:cNvPr id="3" name="Picture 2" descr="intersectiona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Figure 5: Performance heatmap for Gender × Race intersections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Results: Discriminative Clinical Features (Aim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Top ADRD-Associated Terms (χ² test, FDR&lt;0.05):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'goal' (χ²=4,596), 'outcome' (χ²=4,377)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'ongoing' (χ²=3,696), 'progressing' (χ²=2,738)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'dementia' (χ²=1,850), 'admission' (χ²=1,830)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'care' (χ²=1,708), 'acute' (χ²=1,661)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Clinical 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Language reflects care planning and disease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Terms align with known ADRD clinical documentation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Consistent across demographic subgroups (70-90% overlap)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Results: TF-IDF Feature Importance (Aim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Top TF-IDF Terms for ADRD (clinically relevant):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High specificity terms: 'dementia', 'cognitive', 'impaired'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Care-related: 'discharge', 'admission', 'inpatient'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Clinical processes: 'goal', 'outcome', 'ongoing'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Demographic Variations: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Female patients: Emphasis on 'care', 'assessment'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Male patients: Focus on 'acute', 'admission'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Black patients: Higher use of 'goal', 'care planning'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White patients: More 'procedure', 'discharge' terms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Finding: Feature patterns differ but performance remains equitable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Discussion: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1. Exceptional Performance Maintained: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Knox &amp; Obeid's CNN: AUC=0.987 on evaluation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Consistent performance across 10 model cycles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Excellent calibration (Brier=0.044)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2. Algorithmic Fairness Confirmed (Aim 1):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No significant disparities across gender, race, ethnicity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Approximate randomization tests: all p&gt;0.05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Performance variance within ±0.05 AUC threshold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Intersectional analysis: equitable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3. Interpretable Features Identified (Aim 2):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Discriminative terms align with clinical knowledge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Feature patterns consistent across demographics (70-90% overlap)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Behavioral testing validates feature importance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Discussion: Clinical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Potential Applications: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Automated ADRD screening in large patient populations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Early detection support for clinicians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Risk stratification for preventive interventions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Reduction of manual chart review burden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Implementation Considerations: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Integration with EHR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Real-time prediction at point of care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Clinician-in-the-loop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Continuous monitoring for model drift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Ethical AI: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Demonstrated fairness across demographic groups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Transparent feature analysis for clinical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Framework for responsible AI deployment in healthcare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Study Limitations: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Single-site data (MUSC) - generalizability needs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Small sample sizes for some demographic subgroups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Evaluation limited to one CNN model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Temporal validation not performed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No external validation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Future Directions: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Multi-site external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Prospective clinical trial for real-world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Temporal validation across different time periods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Compare fairness across multiple model architectures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Integration with structured EHR data (labs, vitals)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LIME/SHAP explanations for individual predictions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Evaluated Knox &amp; Obeid's CNN model on diverse cohort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(AUC=0.987, Sensitivity=97.3%, Specificity=91.8%)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Confirmed algorithmic fairness across demographics (Aim 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(Approximate randomization: no significant disparities)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(Performance variance within ±0.05 AUC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✓ Identified interpretable discriminative features (Aim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(Behavioral testing + statistical feature analysis)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(70-90% feature consistency across demographic groups)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Contributions: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Rigorous fairness evaluation framework for ADRD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Evidence of equitable performance across diverse populations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Explainable AI approach for clinical feature validation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Study Team: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Frederick Gyasi - Principal Investigator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Jihad Obeid - Co-Investigator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Prior Work: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Knox &amp; Obeid - Original CNN model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Funding: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[Your Funding Source]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Data: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MUSC Research Data Warehouse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IRB Approval: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Protocol #[Number]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Questions?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Email: [your-email]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GitHub: github.com/gyasifred/adrd_ePheno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